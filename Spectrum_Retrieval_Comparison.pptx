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0b422874184239" /><Relationship Type="http://schemas.openxmlformats.org/officeDocument/2006/relationships/extended-properties" Target="/docProps/app.xml" Id="R3ffe2dfeaeb14a9e" /><Relationship Type="http://schemas.openxmlformats.org/officeDocument/2006/relationships/officeDocument" Target="/ppt/presentation.xml" Id="R9354aca2167e4c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227045ba644219"/>
  </p:sldMasterIdLst>
  <p:notesMasterIdLst>
    <p:notesMasterId xmlns:r="http://schemas.openxmlformats.org/officeDocument/2006/relationships" r:id="R2ca10d7c8cd84a01"/>
  </p:notesMasterIdLst>
  <p:sldIdLst>
    <p:sldId xmlns:r="http://schemas.openxmlformats.org/officeDocument/2006/relationships" id="256" r:id="Raf9f357ea4d14172"/>
    <p:sldId xmlns:r="http://schemas.openxmlformats.org/officeDocument/2006/relationships" id="257" r:id="R4c6c6c0158b84c36"/>
    <p:sldId xmlns:r="http://schemas.openxmlformats.org/officeDocument/2006/relationships" id="258" r:id="R2d7af5c1aa264806"/>
    <p:sldId xmlns:r="http://schemas.openxmlformats.org/officeDocument/2006/relationships" id="259" r:id="Re9854babebb74a6d"/>
    <p:sldId xmlns:r="http://schemas.openxmlformats.org/officeDocument/2006/relationships" id="260" r:id="Rd0be9dba0d0e4bee"/>
    <p:sldId xmlns:r="http://schemas.openxmlformats.org/officeDocument/2006/relationships" id="261" r:id="R89a2ddb210cc484f"/>
    <p:sldId xmlns:r="http://schemas.openxmlformats.org/officeDocument/2006/relationships" id="262" r:id="Rfb109eff25034a5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27045ba644219" /><Relationship Type="http://schemas.openxmlformats.org/officeDocument/2006/relationships/theme" Target="/ppt/theme/theme1.xml" Id="R51bf534d833045ff" /><Relationship Type="http://schemas.openxmlformats.org/officeDocument/2006/relationships/notesMaster" Target="/ppt/notesMasters/notesMaster1.xml" Id="R2ca10d7c8cd84a01" /><Relationship Type="http://schemas.openxmlformats.org/officeDocument/2006/relationships/presProps" Target="/ppt/presProps.xml" Id="R4fcb890dca5f4665" /><Relationship Type="http://schemas.openxmlformats.org/officeDocument/2006/relationships/viewProps" Target="/ppt/viewProps.xml" Id="Raa3abec7acc144dc" /><Relationship Type="http://schemas.openxmlformats.org/officeDocument/2006/relationships/tableStyles" Target="/ppt/tableStyles.xml" Id="Rc1b98daa5ddf4a0f" /><Relationship Type="http://schemas.openxmlformats.org/officeDocument/2006/relationships/slide" Target="/ppt/slides/slide1.xml" Id="Raf9f357ea4d14172" /><Relationship Type="http://schemas.openxmlformats.org/officeDocument/2006/relationships/slide" Target="/ppt/slides/slide2.xml" Id="R4c6c6c0158b84c36" /><Relationship Type="http://schemas.openxmlformats.org/officeDocument/2006/relationships/slide" Target="/ppt/slides/slide3.xml" Id="R2d7af5c1aa264806" /><Relationship Type="http://schemas.openxmlformats.org/officeDocument/2006/relationships/slide" Target="/ppt/slides/slide4.xml" Id="Re9854babebb74a6d" /><Relationship Type="http://schemas.openxmlformats.org/officeDocument/2006/relationships/slide" Target="/ppt/slides/slide5.xml" Id="Rd0be9dba0d0e4bee" /><Relationship Type="http://schemas.openxmlformats.org/officeDocument/2006/relationships/slide" Target="/ppt/slides/slide6.xml" Id="R89a2ddb210cc484f" /><Relationship Type="http://schemas.openxmlformats.org/officeDocument/2006/relationships/slide" Target="/ppt/slides/slide7.xml" Id="Rfb109eff25034a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8b87f4d3ec64e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ab6ede5c30498c" /><Relationship Type="http://schemas.openxmlformats.org/officeDocument/2006/relationships/notesMaster" Target="/ppt/notesMasters/notesMaster1.xml" Id="R8668ac5cd9fd4e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b76d82cf974bb9" /><Relationship Type="http://schemas.openxmlformats.org/officeDocument/2006/relationships/notesMaster" Target="/ppt/notesMasters/notesMaster1.xml" Id="R6b074a7038a24e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fa8f95e6984fb0" /><Relationship Type="http://schemas.openxmlformats.org/officeDocument/2006/relationships/notesMaster" Target="/ppt/notesMasters/notesMaster1.xml" Id="Ra2315ffaba5545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bcabe372334a70" /><Relationship Type="http://schemas.openxmlformats.org/officeDocument/2006/relationships/notesMaster" Target="/ppt/notesMasters/notesMaster1.xml" Id="R9a0815a9da2844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1103a87f524c47" /><Relationship Type="http://schemas.openxmlformats.org/officeDocument/2006/relationships/notesMaster" Target="/ppt/notesMasters/notesMaster1.xml" Id="R18de18005a3f49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8b478f7ff2490f" /><Relationship Type="http://schemas.openxmlformats.org/officeDocument/2006/relationships/notesMaster" Target="/ppt/notesMasters/notesMaster1.xml" Id="R7fcc1090d83941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a343921a99446b" /><Relationship Type="http://schemas.openxmlformats.org/officeDocument/2006/relationships/notesMaster" Target="/ppt/notesMasters/notesMaster1.xml" Id="R4970ff80471748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2a47baf01444f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a8152c35be04478" /><Relationship Type="http://schemas.openxmlformats.org/officeDocument/2006/relationships/slideLayout" Target="/ppt/slideLayouts/slideLayout2.xml" Id="Re5ed1fc22c4340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ed1fc22c4340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674d8d85694057" /><Relationship Type="http://schemas.openxmlformats.org/officeDocument/2006/relationships/notesSlide" Target="/ppt/notesSlides/notesSlide1.xml" Id="R185b39a5abde4b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ada25b3f844a4f" /><Relationship Type="http://schemas.openxmlformats.org/officeDocument/2006/relationships/notesSlide" Target="/ppt/notesSlides/notesSlide2.xml" Id="Rb4b1b627f11e48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9ced924841421b" /><Relationship Type="http://schemas.openxmlformats.org/officeDocument/2006/relationships/notesSlide" Target="/ppt/notesSlides/notesSlide3.xml" Id="Ra7dc55642f8f4c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e6475612484188" /><Relationship Type="http://schemas.openxmlformats.org/officeDocument/2006/relationships/notesSlide" Target="/ppt/notesSlides/notesSlide4.xml" Id="Rce23d88ef3ca42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c6112e6da049b6" /><Relationship Type="http://schemas.openxmlformats.org/officeDocument/2006/relationships/notesSlide" Target="/ppt/notesSlides/notesSlide5.xml" Id="R6d4199c352a14f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4f65c9f19c4a36" /><Relationship Type="http://schemas.openxmlformats.org/officeDocument/2006/relationships/notesSlide" Target="/ppt/notesSlides/notesSlide6.xml" Id="R85d4cbd8e9ed46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6ba34124ae4e70" /><Relationship Type="http://schemas.openxmlformats.org/officeDocument/2006/relationships/notesSlide" Target="/ppt/notesSlides/notesSlide7.xml" Id="Rc138fbe70dfd47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54847D-A256-487F-A8FA-0B27E648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84582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15171A"/>
                </a:solidFill>
              </a:defRPr>
            </a:pPr>
            <a:r>
              <a:rPr sz="6600" b="1">
                <a:solidFill>
                  <a:srgbClr val="15171A"/>
                </a:solidFill>
              </a:rPr>
              <a:t>Spectrum 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F683C-4B73-44E5-899A-29A4B36F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6115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6673"/>
                </a:solidFill>
              </a:defRPr>
            </a:pPr>
            <a:r>
              <a:rPr sz="2100">
                <a:solidFill>
                  <a:srgbClr val="5D6673"/>
                </a:solidFill>
              </a:rPr>
              <a:t>Where the .spec semantic-token layer sits against BM25, Tree-sitter, code search, and embedding-style retrieval.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1A48D-85C8-4A93-9C3B-B3D7A972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2731453" cy="731520"/>
          </a:xfrm>
          <a:prstGeom xmlns:a="http://schemas.openxmlformats.org/drawingml/2006/main" prst="roundRect">
            <a:avLst>
              <a:gd name="adj" fmla="val 23438"/>
            </a:avLst>
          </a:prstGeom>
          <a:solidFill xmlns:a="http://schemas.openxmlformats.org/drawingml/2006/main">
            <a:srgbClr val="E8F0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FEA26-B9B5-4BB5-8FC1-1C1CC37A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00750"/>
            <a:ext cx="1028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fast enough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44D7E-9ABD-4AB2-8A36-0D48C687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2053" y="5886450"/>
            <a:ext cx="2731453" cy="48006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7F6E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47345-3F0F-4DA1-A84C-73C00B87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000750"/>
            <a:ext cx="89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9A68"/>
                </a:solidFill>
              </a:defRPr>
            </a:pPr>
            <a:r>
              <a:rPr sz="1650" b="1">
                <a:solidFill>
                  <a:srgbClr val="179A68"/>
                </a:solidFill>
              </a:rPr>
              <a:t>high recall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5A4ED-C78F-4582-80C1-554DEDD1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855" y="5886450"/>
            <a:ext cx="2731453" cy="731520"/>
          </a:xfrm>
          <a:prstGeom xmlns:a="http://schemas.openxmlformats.org/drawingml/2006/main" prst="roundRect">
            <a:avLst>
              <a:gd name="adj" fmla="val 23438"/>
            </a:avLst>
          </a:prstGeom>
          <a:solidFill xmlns:a="http://schemas.openxmlformats.org/drawingml/2006/main">
            <a:srgbClr val="FFF3D6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4BA8B-A564-4292-A3FE-332C24A1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000750"/>
            <a:ext cx="1828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8A00"/>
                </a:solidFill>
              </a:defRPr>
            </a:pPr>
            <a:r>
              <a:rPr sz="1650" b="1">
                <a:solidFill>
                  <a:srgbClr val="D68A00"/>
                </a:solidFill>
              </a:rPr>
              <a:t>compressed retrieval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2CB93-6372-4871-AD76-8CF71DCF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508" y="819150"/>
            <a:ext cx="7655242" cy="8648700"/>
          </a:xfrm>
          <a:prstGeom xmlns:a="http://schemas.openxmlformats.org/drawingml/2006/main" prst="roundRect">
            <a:avLst>
              <a:gd name="adj" fmla="val 3484"/>
            </a:avLst>
          </a:prstGeom>
          <a:solidFill xmlns:a="http://schemas.openxmlformats.org/drawingml/2006/main">
            <a:srgbClr val="15171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64ABA-BCDB-4B03-8228-9FF22E33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676650"/>
            <a:ext cx="678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7C7FF"/>
                </a:solidFill>
              </a:defRPr>
            </a:pPr>
            <a:r>
              <a:rPr sz="1800" b="1">
                <a:solidFill>
                  <a:srgbClr val="A7C7FF"/>
                </a:solidFill>
              </a:rPr>
              <a:t>Positioning read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5C1D7-C7DE-4811-B951-9302D6AA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52900"/>
            <a:ext cx="67818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Spectrum is closest to an offline, explainable retrieval substrate: stored compactly, structured enough to search, simple enough to run locally.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92CCE-475E-4D26-9D9B-4F182C19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0960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ED3BC-F2AB-4211-9359-E4C0F23B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362700"/>
            <a:ext cx="6781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ED7E6"/>
                </a:solidFill>
              </a:defRPr>
            </a:pPr>
            <a:r>
              <a:rPr sz="1725">
                <a:solidFill>
                  <a:srgbClr val="CED7E6"/>
                </a:solidFill>
              </a:rPr>
              <a:t>The current enemy is not embeddings. It is syntax-aware BM25.</a:t>
            </a:r>
          </a:p>
        </p:txBody>
      </p:sp>
    </p:spTree>
    <p:extLst>
      <p:ext uri="{BB962C8B-B14F-4D97-AF65-F5344CB8AC3E}">
        <p14:creationId xmlns:p14="http://schemas.microsoft.com/office/powerpoint/2010/main" val="1600911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BC13D6-19F0-44E9-BA2F-A8432006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524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METHOD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8E491-94D3-4157-B49B-79F44B1E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47750"/>
            <a:ext cx="15811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171A"/>
                </a:solidFill>
              </a:defRPr>
            </a:pPr>
            <a:r>
              <a:rPr sz="3000" b="1">
                <a:solidFill>
                  <a:srgbClr val="15171A"/>
                </a:solidFill>
              </a:rPr>
              <a:t>Five retrieval styles, one practical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34AF1-8E05-422B-9943-3E868CF7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257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D6673"/>
                </a:solidFill>
              </a:defRPr>
            </a:pPr>
            <a:r>
              <a:rPr sz="1725">
                <a:solidFill>
                  <a:srgbClr val="5D6673"/>
                </a:solidFill>
              </a:rPr>
              <a:t>What do they store, what do they search, and what trade-off do they buy?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309F8-C038-4E0B-A325-3C76D353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5410200" cy="2828925"/>
          </a:xfrm>
          <a:prstGeom xmlns:a="http://schemas.openxmlformats.org/drawingml/2006/main" prst="roundRect">
            <a:avLst>
              <a:gd name="adj" fmla="val 53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49BF2-A270-4969-8AA0-600093B4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0CB24-1FE5-4A99-97C6-F29C8824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05200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71A"/>
                </a:solidFill>
              </a:defRPr>
            </a:pPr>
            <a:r>
              <a:rPr sz="1800" b="1">
                <a:solidFill>
                  <a:srgbClr val="15171A"/>
                </a:solidFill>
              </a:rPr>
              <a:t>Spectrum BM25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234EE-E985-4B43-8390-8160ABC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914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673"/>
                </a:solidFill>
              </a:defRPr>
            </a:pPr>
            <a:r>
              <a:rPr sz="1275">
                <a:solidFill>
                  <a:srgbClr val="5D6673"/>
                </a:solidFill>
              </a:rPr>
              <a:t>.spec token IDs are indexed directly. Retrieval is explainable and offline; decode happens only after ranking.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30823-D353-48BE-8A6D-147B85A5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95650"/>
            <a:ext cx="5410200" cy="2828925"/>
          </a:xfrm>
          <a:prstGeom xmlns:a="http://schemas.openxmlformats.org/drawingml/2006/main" prst="roundRect">
            <a:avLst>
              <a:gd name="adj" fmla="val 53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8D6F5-0804-4E15-86BD-59AFBA30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814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313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306AB-BE0A-4B4D-B2FB-D8FEDDEA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05200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71A"/>
                </a:solidFill>
              </a:defRPr>
            </a:pPr>
            <a:r>
              <a:rPr sz="1800" b="1">
                <a:solidFill>
                  <a:srgbClr val="15171A"/>
                </a:solidFill>
              </a:rPr>
              <a:t>Raw BM25 / Lucene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B6088-01F3-4C49-90D2-46C604B6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67150"/>
            <a:ext cx="4914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673"/>
                </a:solidFill>
              </a:defRPr>
            </a:pPr>
            <a:r>
              <a:rPr sz="1275">
                <a:solidFill>
                  <a:srgbClr val="5D6673"/>
                </a:solidFill>
              </a:rPr>
              <a:t>Text terms go into an inverted index. Very fast, mature, exact-match strong, but separate from compressed storage.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0F5CA-4A62-43A3-8058-D6C1608C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295650"/>
            <a:ext cx="5410200" cy="2828925"/>
          </a:xfrm>
          <a:prstGeom xmlns:a="http://schemas.openxmlformats.org/drawingml/2006/main" prst="roundRect">
            <a:avLst>
              <a:gd name="adj" fmla="val 53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DD6C2-6D64-4705-B991-96096351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5814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6E11A-65F7-48E3-B72A-A603A5EB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505200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71A"/>
                </a:solidFill>
              </a:defRPr>
            </a:pPr>
            <a:r>
              <a:rPr sz="1800" b="1">
                <a:solidFill>
                  <a:srgbClr val="15171A"/>
                </a:solidFill>
              </a:rPr>
              <a:t>Zoekt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C91DA-6E4B-43E0-AB34-3CF863C0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867150"/>
            <a:ext cx="4914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673"/>
                </a:solidFill>
              </a:defRPr>
            </a:pPr>
            <a:r>
              <a:rPr sz="1275">
                <a:solidFill>
                  <a:srgbClr val="5D6673"/>
                </a:solidFill>
              </a:rPr>
              <a:t>Production-grade source search built around trigrams, regex, symbol-aware ranking, and large-codebase ergonomics.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D5421-0AE7-4FF2-8769-39790DA9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53175"/>
            <a:ext cx="5410200" cy="2828925"/>
          </a:xfrm>
          <a:prstGeom xmlns:a="http://schemas.openxmlformats.org/drawingml/2006/main" prst="roundRect">
            <a:avLst>
              <a:gd name="adj" fmla="val 53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8E728-08BF-4B95-AAF5-A7928B72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294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9A6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58D7B-B122-4765-A09B-800A6566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572250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71A"/>
                </a:solidFill>
              </a:defRPr>
            </a:pPr>
            <a:r>
              <a:rPr sz="1800" b="1">
                <a:solidFill>
                  <a:srgbClr val="15171A"/>
                </a:solidFill>
              </a:rPr>
              <a:t>Tree-sitter + BM25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972CA-08E5-4CB1-8555-D6A48682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34200"/>
            <a:ext cx="4914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673"/>
                </a:solidFill>
              </a:defRPr>
            </a:pPr>
            <a:r>
              <a:rPr sz="1275">
                <a:solidFill>
                  <a:srgbClr val="5D6673"/>
                </a:solidFill>
              </a:rPr>
              <a:t>Code is parsed first, chunked by syntax, then searched lexically. Strong local relevance for code questions.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B7FA53-8E29-4784-B548-4262BB01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353175"/>
            <a:ext cx="5410200" cy="2828925"/>
          </a:xfrm>
          <a:prstGeom xmlns:a="http://schemas.openxmlformats.org/drawingml/2006/main" prst="roundRect">
            <a:avLst>
              <a:gd name="adj" fmla="val 53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0FB763-A678-401C-ABF9-097B6EFE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6294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8A00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3F305-CD12-4A61-96F0-58525DD0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572250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71A"/>
                </a:solidFill>
              </a:defRPr>
            </a:pPr>
            <a:r>
              <a:rPr sz="1800" b="1">
                <a:solidFill>
                  <a:srgbClr val="15171A"/>
                </a:solidFill>
              </a:rPr>
              <a:t>Dense embeddings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F50AC5-A890-4986-99C7-C03A1A50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934200"/>
            <a:ext cx="4914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673"/>
                </a:solidFill>
              </a:defRPr>
            </a:pPr>
            <a:r>
              <a:rPr sz="1275">
                <a:solidFill>
                  <a:srgbClr val="5D6673"/>
                </a:solidFill>
              </a:rPr>
              <a:t>Chunks become dense vectors. Better for conceptual language, weaker for exact identifiers unless paired with lexical search.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F9D0DC-B5AA-4654-B610-FDA207B9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353175"/>
            <a:ext cx="5410200" cy="2828925"/>
          </a:xfrm>
          <a:prstGeom xmlns:a="http://schemas.openxmlformats.org/drawingml/2006/main" prst="roundRect">
            <a:avLst>
              <a:gd name="adj" fmla="val 53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CD5D13-64DD-4B4E-BE1A-07ABE4E7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6294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0C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D1261E-0B1F-4A10-98E0-875307B6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572250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71A"/>
                </a:solidFill>
              </a:defRPr>
            </a:pPr>
            <a:r>
              <a:rPr sz="1800" b="1">
                <a:solidFill>
                  <a:srgbClr val="15171A"/>
                </a:solidFill>
              </a:rPr>
              <a:t>Hybrid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0800B7-EDC3-484A-B020-128F46AE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934200"/>
            <a:ext cx="4914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673"/>
                </a:solidFill>
              </a:defRPr>
            </a:pPr>
            <a:r>
              <a:rPr sz="1275">
                <a:solidFill>
                  <a:srgbClr val="5D6673"/>
                </a:solidFill>
              </a:rPr>
              <a:t>Lexical and dense results are fused. Usually the production default when query intent is mixed.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361FD6-558C-45DE-A346-F3C97312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91700"/>
            <a:ext cx="16002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47C70"/>
                </a:solidFill>
              </a:defRPr>
            </a:pPr>
            <a:r>
              <a:rPr sz="975">
                <a:solidFill>
                  <a:srgbClr val="847C70"/>
                </a:solidFill>
              </a:rPr>
              <a:t>Zoekt and real neural embeddings were not installed locally; benchmark uses local proxies where noted.</a:t>
            </a:r>
          </a:p>
        </p:txBody>
      </p:sp>
    </p:spTree>
    <p:extLst>
      <p:ext uri="{BB962C8B-B14F-4D97-AF65-F5344CB8AC3E}">
        <p14:creationId xmlns:p14="http://schemas.microsoft.com/office/powerpoint/2010/main" val="3492189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E80CC7-7D1A-49D7-9733-77FA70B8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524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LOCAL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43083-596A-4310-85AD-696A214E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47750"/>
            <a:ext cx="15811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171A"/>
                </a:solidFill>
              </a:defRPr>
            </a:pPr>
            <a:r>
              <a:rPr sz="3000" b="1">
                <a:solidFill>
                  <a:srgbClr val="15171A"/>
                </a:solidFill>
              </a:rPr>
              <a:t>Spectrum is competitive on retrieval, especially recall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C3692-289B-4994-8B83-71653B3C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257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D6673"/>
                </a:solidFill>
              </a:defRPr>
            </a:pPr>
            <a:r>
              <a:rPr sz="1725">
                <a:solidFill>
                  <a:srgbClr val="5D6673"/>
                </a:solidFill>
              </a:rPr>
              <a:t>Small-corpus result: 14 files, 8 labelled queries, file-level scoring except Tree-sitter chunks aggregated to files.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99E2E-4814-4AB4-B569-CDF6F626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673"/>
                </a:solidFill>
              </a:defRPr>
            </a:pPr>
            <a:r>
              <a:rPr sz="1125" b="1">
                <a:solidFill>
                  <a:srgbClr val="5D6673"/>
                </a:solidFill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4F214-D3F1-4932-B877-1EFA625D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14700"/>
            <a:ext cx="4362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673"/>
                </a:solidFill>
              </a:defRPr>
            </a:pPr>
            <a:r>
              <a:rPr sz="1125" b="1">
                <a:solidFill>
                  <a:srgbClr val="5D6673"/>
                </a:solidFill>
              </a:rPr>
              <a:t>Reliability: Hit@1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DF5F9-25F2-4A8C-8371-524E0F2F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4362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673"/>
                </a:solidFill>
              </a:defRPr>
            </a:pPr>
            <a:r>
              <a:rPr sz="1125" b="1">
                <a:solidFill>
                  <a:srgbClr val="5D6673"/>
                </a:solidFill>
              </a:rPr>
              <a:t>Candidate quality: Recall@5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8878B-077F-457E-8E3F-535D957B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314700"/>
            <a:ext cx="4362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673"/>
                </a:solidFill>
              </a:defRPr>
            </a:pPr>
            <a:r>
              <a:rPr sz="1125" b="1">
                <a:solidFill>
                  <a:srgbClr val="5D6673"/>
                </a:solidFill>
              </a:rPr>
              <a:t>Speed: lower is better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181C6-7065-43A9-808E-8A45C001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BE96B-4489-4D4D-84A8-F101760A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2628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171A"/>
                </a:solidFill>
              </a:defRPr>
            </a:pPr>
            <a:r>
              <a:rPr sz="1425" b="1">
                <a:solidFill>
                  <a:srgbClr val="15171A"/>
                </a:solidFill>
              </a:rPr>
              <a:t>Spectrum BM25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AFEA6-7A65-4643-8C6A-D6DB9F56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86200"/>
            <a:ext cx="310134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3DC4D-3233-4ADA-93F5-FFB6A5D3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86200"/>
            <a:ext cx="121920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E8DE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96BD3-23D3-454D-8C95-67C665FE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33850"/>
            <a:ext cx="436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3"/>
                </a:solidFill>
              </a:defRPr>
            </a:pPr>
            <a:r>
              <a:rPr sz="1050">
                <a:solidFill>
                  <a:srgbClr val="5D6673"/>
                </a:solidFill>
              </a:rPr>
              <a:t>87.5% Hit@1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2B1C5-6F5F-448F-9E3A-0C715584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3207068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271D2-6B92-409A-82DE-5D8C050C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886200"/>
            <a:ext cx="114300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E8D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D93E8-F2B0-4AED-A481-33D45482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33850"/>
            <a:ext cx="436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3"/>
                </a:solidFill>
              </a:defRPr>
            </a:pPr>
            <a:r>
              <a:rPr sz="1050">
                <a:solidFill>
                  <a:srgbClr val="5D6673"/>
                </a:solidFill>
              </a:rPr>
              <a:t>90.5% Recall@5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65BE3-E9E4-4E61-9B55-794B18F2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886200"/>
            <a:ext cx="669608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45C6D-AA53-45F5-BD2D-15231F69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886200"/>
            <a:ext cx="365760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E8DE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D262E-F7D0-4E39-A1A4-45616F47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133850"/>
            <a:ext cx="436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3"/>
                </a:solidFill>
              </a:defRPr>
            </a:pPr>
            <a:r>
              <a:rPr sz="1050">
                <a:solidFill>
                  <a:srgbClr val="5D6673"/>
                </a:solidFill>
              </a:rPr>
              <a:t>2.25 ms/query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ECBDFA-CA4D-4FE1-B47A-92D281A0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313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5760D-2533-4530-B77B-9AC53358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2628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171A"/>
                </a:solidFill>
              </a:defRPr>
            </a:pPr>
            <a:r>
              <a:rPr sz="1425" b="1">
                <a:solidFill>
                  <a:srgbClr val="15171A"/>
                </a:solidFill>
              </a:rPr>
              <a:t>Raw BM25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8E6E9-6856-4005-89B6-1E64636E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648200"/>
            <a:ext cx="310134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7313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07485-DAC7-4657-9499-10CA229A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48200"/>
            <a:ext cx="121920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E8DE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A27422-5B6B-4F0C-9A8C-45D9B664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14900"/>
            <a:ext cx="436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3"/>
                </a:solidFill>
              </a:defRPr>
            </a:pPr>
            <a:r>
              <a:rPr sz="1050">
                <a:solidFill>
                  <a:srgbClr val="5D6673"/>
                </a:solidFill>
              </a:rPr>
              <a:t>87.5% Hit@1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F62280-A680-46F0-9A8F-DEFD7445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48200"/>
            <a:ext cx="2361248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7313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6FF60-7865-434A-9C4A-3A76EC98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648200"/>
            <a:ext cx="198120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E8D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F58B0C-A566-4F20-8E50-BBAB33C7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14900"/>
            <a:ext cx="436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3"/>
                </a:solidFill>
              </a:defRPr>
            </a:pPr>
            <a:r>
              <a:rPr sz="1050">
                <a:solidFill>
                  <a:srgbClr val="5D6673"/>
                </a:solidFill>
              </a:rPr>
              <a:t>66.7% Recall@5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C08301-8348-48EC-AA67-4925C381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686300"/>
            <a:ext cx="7048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313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BB15E-CE61-4ED4-BC28-A6734379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648200"/>
            <a:ext cx="426720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E8DE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5FD308-DC06-4730-AB2C-7B6B4A8F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914900"/>
            <a:ext cx="436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3"/>
                </a:solidFill>
              </a:defRPr>
            </a:pPr>
            <a:r>
              <a:rPr sz="1050">
                <a:solidFill>
                  <a:srgbClr val="5D6673"/>
                </a:solidFill>
              </a:rPr>
              <a:t>0.12 ms/query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1DE2FC-C407-4D89-B936-FEDD3785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00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9A68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8B5BA2-71AF-4051-B63A-C8A0A8A8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43550"/>
            <a:ext cx="2628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171A"/>
                </a:solidFill>
              </a:defRPr>
            </a:pPr>
            <a:r>
              <a:rPr sz="1425" b="1">
                <a:solidFill>
                  <a:srgbClr val="15171A"/>
                </a:solidFill>
              </a:rPr>
              <a:t>Tree-sitter chunk BM25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3BF271-A43B-45AE-BBD6-DEBF873E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486400"/>
            <a:ext cx="352425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79A68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24F855-34C2-4E03-BD69-C48425A3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486400"/>
            <a:ext cx="83820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E8DE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330F8A-087B-47BD-9F3F-12AF6CDF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95950"/>
            <a:ext cx="436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3"/>
                </a:solidFill>
              </a:defRPr>
            </a:pPr>
            <a:r>
              <a:rPr sz="1050">
                <a:solidFill>
                  <a:srgbClr val="5D6673"/>
                </a:solidFill>
              </a:rPr>
              <a:t>100.0% Hit@1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A8E1B3-6232-4A15-930E-7686670C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86400"/>
            <a:ext cx="2502218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79A6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0CF657-05D0-41AE-AEEE-B3A7055D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486400"/>
            <a:ext cx="182880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E8DE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52596A-DB49-44CE-8210-BA11D176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695950"/>
            <a:ext cx="436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3"/>
                </a:solidFill>
              </a:defRPr>
            </a:pPr>
            <a:r>
              <a:rPr sz="1050">
                <a:solidFill>
                  <a:srgbClr val="5D6673"/>
                </a:solidFill>
              </a:rPr>
              <a:t>71.4% Recall@5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C09B82-73BB-4EAF-B961-BE436716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486400"/>
            <a:ext cx="2079308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79A6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D73EE7-6DC9-4C98-B6BF-9A828D8E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5486400"/>
            <a:ext cx="228600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E8DE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DDD52E-01CA-4133-A5CA-48330FF3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695950"/>
            <a:ext cx="436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3"/>
                </a:solidFill>
              </a:defRPr>
            </a:pPr>
            <a:r>
              <a:rPr sz="1050">
                <a:solidFill>
                  <a:srgbClr val="5D6673"/>
                </a:solidFill>
              </a:rPr>
              <a:t>7.12 ms/query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40EE9C-213F-4728-924A-9161AF83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81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8A00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D67B15-5ED5-47AE-A188-9F9C4B3A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24600"/>
            <a:ext cx="2628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171A"/>
                </a:solidFill>
              </a:defRPr>
            </a:pPr>
            <a:r>
              <a:rPr sz="1425" b="1">
                <a:solidFill>
                  <a:srgbClr val="15171A"/>
                </a:solidFill>
              </a:rPr>
              <a:t>Dense LSA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471BC0-92F4-43EC-A3A9-0A3CA1A3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248400"/>
            <a:ext cx="2220278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68A00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89ED02-6BD0-4FA1-B17E-5FD43BF1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248400"/>
            <a:ext cx="213360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E8DE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2CA746-5910-46B0-A3D4-905D9C67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477000"/>
            <a:ext cx="436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3"/>
                </a:solidFill>
              </a:defRPr>
            </a:pPr>
            <a:r>
              <a:rPr sz="1050">
                <a:solidFill>
                  <a:srgbClr val="5D6673"/>
                </a:solidFill>
              </a:rPr>
              <a:t>62.5% Hit@1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C6ED4F-79FE-4525-9D7C-E9185908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48400"/>
            <a:ext cx="3030855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68A00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E9C4B4-A222-438D-B860-399AF46A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248400"/>
            <a:ext cx="129540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E8DE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572990-A237-4FE5-BE86-EC293D1D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477000"/>
            <a:ext cx="436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3"/>
                </a:solidFill>
              </a:defRPr>
            </a:pPr>
            <a:r>
              <a:rPr sz="1050">
                <a:solidFill>
                  <a:srgbClr val="5D6673"/>
                </a:solidFill>
              </a:rPr>
              <a:t>85.7% Recall@5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675C9A-07C3-453F-9179-031EE0B0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248400"/>
            <a:ext cx="3489008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68A00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4DE92F-02B2-4344-B550-DBD9E543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6248400"/>
            <a:ext cx="83820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E8DE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E9A763-9959-41EE-8693-01F44317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477000"/>
            <a:ext cx="436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3"/>
                </a:solidFill>
              </a:defRPr>
            </a:pPr>
            <a:r>
              <a:rPr sz="1050">
                <a:solidFill>
                  <a:srgbClr val="5D6673"/>
                </a:solidFill>
              </a:rPr>
              <a:t>11.87 ms/query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E160C1-D29E-44B6-AFCD-545FFECA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162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0C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0B7D8D-4E1A-4B43-BDDC-2461373C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105650"/>
            <a:ext cx="2628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171A"/>
                </a:solidFill>
              </a:defRPr>
            </a:pPr>
            <a:r>
              <a:rPr sz="1425" b="1">
                <a:solidFill>
                  <a:srgbClr val="15171A"/>
                </a:solidFill>
              </a:rPr>
              <a:t>Hybrid BM25 + LSA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DDB4FC2-DEE0-4BFC-A6BE-FF1DA2DE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7010400"/>
            <a:ext cx="2643188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C2410C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D0996B-F2F3-4D48-A92E-5EFF0417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010400"/>
            <a:ext cx="167640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E8DE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D05F1D-1EC9-4E11-8D9A-0083CA73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258050"/>
            <a:ext cx="436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3"/>
                </a:solidFill>
              </a:defRPr>
            </a:pPr>
            <a:r>
              <a:rPr sz="1050">
                <a:solidFill>
                  <a:srgbClr val="5D6673"/>
                </a:solidFill>
              </a:rPr>
              <a:t>75.0% Hit@1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4AEDFE-A09A-473E-AD2E-38C18DD8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7010400"/>
            <a:ext cx="3030855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C2410C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BCE5A9-918D-4505-9980-BC0883E0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7010400"/>
            <a:ext cx="129540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E8DE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3169A6-3BCF-48FF-ABB2-15CCA0E7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7258050"/>
            <a:ext cx="436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3"/>
                </a:solidFill>
              </a:defRPr>
            </a:pPr>
            <a:r>
              <a:rPr sz="1050">
                <a:solidFill>
                  <a:srgbClr val="5D6673"/>
                </a:solidFill>
              </a:rPr>
              <a:t>85.7% Recall@5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2108FDC-A29F-4F4D-8418-46335542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010400"/>
            <a:ext cx="3277553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C2410C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DF3D98-CA59-42BE-8D8E-2216943B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7010400"/>
            <a:ext cx="106680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E8DE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E8BEF09-AC81-4D3E-884E-5B0D1518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258050"/>
            <a:ext cx="436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3"/>
                </a:solidFill>
              </a:defRPr>
            </a:pPr>
            <a:r>
              <a:rPr sz="1050">
                <a:solidFill>
                  <a:srgbClr val="5D6673"/>
                </a:solidFill>
              </a:rPr>
              <a:t>11.18 ms/query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E327A67-342F-42AA-A267-754471B9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658100"/>
            <a:ext cx="16497300" cy="594360"/>
          </a:xfrm>
          <a:prstGeom xmlns:a="http://schemas.openxmlformats.org/drawingml/2006/main" prst="roundRect">
            <a:avLst>
              <a:gd name="adj" fmla="val 28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117134A-2629-4F26-864A-97167218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829550"/>
            <a:ext cx="1596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71A"/>
                </a:solidFill>
              </a:defRPr>
            </a:pPr>
            <a:r>
              <a:rPr sz="1650" b="1">
                <a:solidFill>
                  <a:srgbClr val="15171A"/>
                </a:solidFill>
              </a:rPr>
              <a:t>Read: Tree-sitter wins top-rank accuracy here. Spectrum's strongest signal is Recall@5: it often gets the right files into the candidate set while staying quick and compressed.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1C186BE-B53C-40AC-A2AB-312C3332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91700"/>
            <a:ext cx="16002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47C70"/>
                </a:solidFill>
              </a:defRPr>
            </a:pPr>
            <a:r>
              <a:rPr sz="975">
                <a:solidFill>
                  <a:srgbClr val="847C70"/>
                </a:solidFill>
              </a:rPr>
              <a:t>Local benchmark: 14 files, 8 labelled queries. Dense result is an LSA proxy, not neural embeddings.</a:t>
            </a:r>
          </a:p>
        </p:txBody>
      </p:sp>
    </p:spTree>
    <p:extLst>
      <p:ext uri="{BB962C8B-B14F-4D97-AF65-F5344CB8AC3E}">
        <p14:creationId xmlns:p14="http://schemas.microsoft.com/office/powerpoint/2010/main" val="1020238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78C13C-820E-432D-8FED-83359426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524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POSITIONING 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EC03D-1732-41B3-9948-0DD7FA5C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47750"/>
            <a:ext cx="15811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171A"/>
                </a:solidFill>
              </a:defRPr>
            </a:pPr>
            <a:r>
              <a:rPr sz="3000" b="1">
                <a:solidFill>
                  <a:srgbClr val="15171A"/>
                </a:solidFill>
              </a:rPr>
              <a:t>Speed, reliability, compression: Spectrum sits in the useful middle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ECA35-F58A-443C-88FD-9AE60AE3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257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D6673"/>
                </a:solidFill>
              </a:defRPr>
            </a:pPr>
            <a:r>
              <a:rPr sz="1725">
                <a:solidFill>
                  <a:srgbClr val="5D6673"/>
                </a:solidFill>
              </a:rPr>
              <a:t>Not the fastest, not the smallest, but unusually balanced for an offline semantic-token representation.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BF6CF-9B87-4A22-94B7-F3EF51CC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6673"/>
                </a:solidFill>
              </a:defRPr>
            </a:pPr>
            <a:r>
              <a:rPr sz="1275" b="1">
                <a:solidFill>
                  <a:srgbClr val="5D6673"/>
                </a:solidFill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F1F86-91A3-4828-92C8-FB5D6BB7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33750"/>
            <a:ext cx="337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6673"/>
                </a:solidFill>
              </a:defRPr>
            </a:pPr>
            <a:r>
              <a:rPr sz="1275" b="1">
                <a:solidFill>
                  <a:srgbClr val="5D6673"/>
                </a:solidFill>
              </a:rPr>
              <a:t>Speed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B5136-F45F-420C-8588-EF342A1B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405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6673"/>
                </a:solidFill>
              </a:defRPr>
            </a:pPr>
            <a:r>
              <a:rPr sz="1275" b="1">
                <a:solidFill>
                  <a:srgbClr val="5D6673"/>
                </a:solidFill>
              </a:rPr>
              <a:t>Reliability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BCC0C-777F-4B74-B230-CE08F440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3333750"/>
            <a:ext cx="457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6673"/>
                </a:solidFill>
              </a:defRPr>
            </a:pPr>
            <a:r>
              <a:rPr sz="1275" b="1">
                <a:solidFill>
                  <a:srgbClr val="5D6673"/>
                </a:solidFill>
              </a:rPr>
              <a:t>Compression / 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2C40D-F6B7-42DA-9C6D-6BD8BDB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171A"/>
                </a:solidFill>
              </a:defRPr>
            </a:pPr>
            <a:r>
              <a:rPr sz="1575" b="1">
                <a:solidFill>
                  <a:srgbClr val="15171A"/>
                </a:solidFill>
              </a:rPr>
              <a:t>Raw BM25 / Lucene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5E9A1-1B2C-4C4D-AD7F-9C4E23BB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814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A"/>
                </a:solidFill>
              </a:defRPr>
            </a:pPr>
            <a:r>
              <a:rPr sz="1425" b="0">
                <a:solidFill>
                  <a:srgbClr val="15171A"/>
                </a:solidFill>
              </a:rPr>
              <a:t>Excellent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6D7EF-FD9A-4C48-8F4A-52566F27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81450"/>
            <a:ext cx="405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A"/>
                </a:solidFill>
              </a:defRPr>
            </a:pPr>
            <a:r>
              <a:rPr sz="1425" b="0">
                <a:solidFill>
                  <a:srgbClr val="15171A"/>
                </a:solidFill>
              </a:rPr>
              <a:t>Strong exact match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C5CF8-A287-4759-9BC3-00331EBB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398145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A"/>
                </a:solidFill>
              </a:defRPr>
            </a:pPr>
            <a:r>
              <a:rPr sz="1425" b="0">
                <a:solidFill>
                  <a:srgbClr val="15171A"/>
                </a:solidFill>
              </a:rPr>
              <a:t>Index separate from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4371B-6A60-4DCD-AA86-4FEEC90A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053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171A"/>
                </a:solidFill>
              </a:defRPr>
            </a:pPr>
            <a:r>
              <a:rPr sz="1575" b="1">
                <a:solidFill>
                  <a:srgbClr val="15171A"/>
                </a:solidFill>
              </a:rPr>
              <a:t>Zoekt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CB0A8-8746-4B72-A576-14CF322F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053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A"/>
                </a:solidFill>
              </a:defRPr>
            </a:pPr>
            <a:r>
              <a:rPr sz="1425" b="0">
                <a:solidFill>
                  <a:srgbClr val="15171A"/>
                </a:solidFill>
              </a:rPr>
              <a:t>Excellent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8420D-3C20-445A-9E5D-5F9754AE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05350"/>
            <a:ext cx="405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A"/>
                </a:solidFill>
              </a:defRPr>
            </a:pPr>
            <a:r>
              <a:rPr sz="1425" b="0">
                <a:solidFill>
                  <a:srgbClr val="15171A"/>
                </a:solidFill>
              </a:rPr>
              <a:t>Excellent for code 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41D10-19D0-4ED5-8315-F0E915C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70535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A"/>
                </a:solidFill>
              </a:defRPr>
            </a:pPr>
            <a:r>
              <a:rPr sz="1425" b="0">
                <a:solidFill>
                  <a:srgbClr val="15171A"/>
                </a:solidFill>
              </a:rPr>
              <a:t>Search index, not codec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94DA0-4867-45E9-BDEB-2FD51573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292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171A"/>
                </a:solidFill>
              </a:defRPr>
            </a:pPr>
            <a:r>
              <a:rPr sz="1575" b="1">
                <a:solidFill>
                  <a:srgbClr val="15171A"/>
                </a:solidFill>
              </a:rPr>
              <a:t>Tree-sitter + BM25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690FF-EDB2-414C-8D71-95F08D8C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4292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A"/>
                </a:solidFill>
              </a:defRPr>
            </a:pPr>
            <a:r>
              <a:rPr sz="1425" b="0">
                <a:solidFill>
                  <a:srgbClr val="15171A"/>
                </a:solidFill>
              </a:rPr>
              <a:t>Good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89B637-BBD6-42C8-A045-E5DD270B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29250"/>
            <a:ext cx="405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A"/>
                </a:solidFill>
              </a:defRPr>
            </a:pPr>
            <a:r>
              <a:rPr sz="1425" b="0">
                <a:solidFill>
                  <a:srgbClr val="15171A"/>
                </a:solidFill>
              </a:rPr>
              <a:t>Best local code relevance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B6A33-3F36-4111-AB18-2859CCE4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42925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A"/>
                </a:solidFill>
              </a:defRPr>
            </a:pPr>
            <a:r>
              <a:rPr sz="1425" b="0">
                <a:solidFill>
                  <a:srgbClr val="15171A"/>
                </a:solidFill>
              </a:rPr>
              <a:t>No compression 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EC91F-5FF0-488C-BFA6-C5243982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1531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171A"/>
                </a:solidFill>
              </a:defRPr>
            </a:pPr>
            <a:r>
              <a:rPr sz="1575" b="1">
                <a:solidFill>
                  <a:srgbClr val="15171A"/>
                </a:solidFill>
              </a:rPr>
              <a:t>Embeddings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6DA29-2FBB-4908-BC5E-7F5FBE65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531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A"/>
                </a:solidFill>
              </a:defRPr>
            </a:pPr>
            <a:r>
              <a:rPr sz="1425" b="0">
                <a:solidFill>
                  <a:srgbClr val="15171A"/>
                </a:solidFill>
              </a:rPr>
              <a:t>Moderate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95F957-6BD7-4313-8989-A7F168B6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153150"/>
            <a:ext cx="405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A"/>
                </a:solidFill>
              </a:defRPr>
            </a:pPr>
            <a:r>
              <a:rPr sz="1425" b="0">
                <a:solidFill>
                  <a:srgbClr val="15171A"/>
                </a:solidFill>
              </a:rPr>
              <a:t>Strong conceptual recall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0C967A-7D06-4E59-868F-AC441853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615315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A"/>
                </a:solidFill>
              </a:defRPr>
            </a:pPr>
            <a:r>
              <a:rPr sz="1425" b="0">
                <a:solidFill>
                  <a:srgbClr val="15171A"/>
                </a:solidFill>
              </a:rPr>
              <a:t>Vector store + source chunks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DA930-6204-4E66-B5FA-93A7DFAB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8770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171A"/>
                </a:solidFill>
              </a:defRPr>
            </a:pPr>
            <a:r>
              <a:rPr sz="1575" b="1">
                <a:solidFill>
                  <a:srgbClr val="15171A"/>
                </a:solidFill>
              </a:rPr>
              <a:t>Hybrid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7E6A03-98E7-47D4-9952-A2B40572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8770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A"/>
                </a:solidFill>
              </a:defRPr>
            </a:pPr>
            <a:r>
              <a:rPr sz="1425" b="0">
                <a:solidFill>
                  <a:srgbClr val="15171A"/>
                </a:solidFill>
              </a:rPr>
              <a:t>Moderate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A6C142-3848-4A64-BD7D-795526F8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877050"/>
            <a:ext cx="405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A"/>
                </a:solidFill>
              </a:defRPr>
            </a:pPr>
            <a:r>
              <a:rPr sz="1425" b="0">
                <a:solidFill>
                  <a:srgbClr val="15171A"/>
                </a:solidFill>
              </a:rPr>
              <a:t>Strongest broad retrieval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6E5E20-0D21-4DCF-99F3-F494F5C7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687705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171A"/>
                </a:solidFill>
              </a:defRPr>
            </a:pPr>
            <a:r>
              <a:rPr sz="1425" b="0">
                <a:solidFill>
                  <a:srgbClr val="15171A"/>
                </a:solidFill>
              </a:rPr>
              <a:t>Most moving parts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8D00A0-249A-4D87-8A79-4F2375A4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6009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Spectrum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F145DF-7C3A-45D5-9781-09871E36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600950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Good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692BD1-2645-455E-918D-2D252DA7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600950"/>
            <a:ext cx="405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High recall, explainable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F10E8B-213E-4E99-A56D-94BB290D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760095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.spec is compressed + indexed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F8FAB9-2BD6-4D75-AE76-90552E13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91700"/>
            <a:ext cx="16002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47C70"/>
                </a:solidFill>
              </a:defRPr>
            </a:pPr>
            <a:r>
              <a:rPr sz="975">
                <a:solidFill>
                  <a:srgbClr val="847C70"/>
                </a:solidFill>
              </a:rPr>
              <a:t>Qualitative cells combine local benchmark results with method properties. Real Lucene/Zoekt/neural embedding runs still needed for production-grade claims.</a:t>
            </a:r>
          </a:p>
        </p:txBody>
      </p:sp>
    </p:spTree>
    <p:extLst>
      <p:ext uri="{BB962C8B-B14F-4D97-AF65-F5344CB8AC3E}">
        <p14:creationId xmlns:p14="http://schemas.microsoft.com/office/powerpoint/2010/main" val="4301497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FF9921-CC65-4AB6-8CE0-171D05C0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524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STORAGE REALITY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0826B-DA87-4B3A-B1F5-45256160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47750"/>
            <a:ext cx="15811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171A"/>
                </a:solidFill>
              </a:defRPr>
            </a:pPr>
            <a:r>
              <a:rPr sz="3000" b="1">
                <a:solidFill>
                  <a:srgbClr val="15171A"/>
                </a:solidFill>
              </a:rPr>
              <a:t>The useful comparison is retrieval-ready storage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01759-AB27-4763-9EEB-3864D2FF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257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D6673"/>
                </a:solidFill>
              </a:defRPr>
            </a:pPr>
            <a:r>
              <a:rPr sz="1725">
                <a:solidFill>
                  <a:srgbClr val="5D6673"/>
                </a:solidFill>
              </a:rPr>
              <a:t>Spectrum's claim belongs beside indexes, chunks, vectors, and source stores, not passive file compression.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7579A-99CF-4FB3-853C-A4299C6B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5321300" cy="5695950"/>
          </a:xfrm>
          <a:prstGeom xmlns:a="http://schemas.openxmlformats.org/drawingml/2006/main" prst="roundRect">
            <a:avLst>
              <a:gd name="adj" fmla="val 42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867AC-9765-490E-8C57-F79CB371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95700"/>
            <a:ext cx="466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7313F"/>
                </a:solidFill>
              </a:defRPr>
            </a:pPr>
            <a:r>
              <a:rPr sz="2400" b="1">
                <a:solidFill>
                  <a:srgbClr val="27313F"/>
                </a:solidFill>
              </a:rPr>
              <a:t>Typical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67628-7BBE-4D47-AB38-8B8F62EC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46672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5171A"/>
                </a:solidFill>
              </a:defRPr>
            </a:pPr>
            <a:r>
              <a:rPr sz="2100">
                <a:solidFill>
                  <a:srgbClr val="15171A"/>
                </a:solidFill>
              </a:rPr>
              <a:t>Raw source</a:t>
            </a:r>
          </a:p>
          <a:p xmlns:a="http://schemas.openxmlformats.org/drawingml/2006/main">
            <a:pPr>
              <a:defRPr sz="2100">
                <a:solidFill>
                  <a:srgbClr val="15171A"/>
                </a:solidFill>
              </a:defRPr>
            </a:pPr>
            <a:r>
              <a:rPr sz="2100">
                <a:solidFill>
                  <a:srgbClr val="15171A"/>
                </a:solidFill>
              </a:rPr>
              <a:t>+ chunks</a:t>
            </a:r>
          </a:p>
          <a:p xmlns:a="http://schemas.openxmlformats.org/drawingml/2006/main">
            <a:pPr>
              <a:defRPr sz="2100">
                <a:solidFill>
                  <a:srgbClr val="15171A"/>
                </a:solidFill>
              </a:defRPr>
            </a:pPr>
            <a:r>
              <a:rPr sz="2100">
                <a:solidFill>
                  <a:srgbClr val="15171A"/>
                </a:solidFill>
              </a:rPr>
              <a:t>+ BM25 index</a:t>
            </a:r>
          </a:p>
          <a:p xmlns:a="http://schemas.openxmlformats.org/drawingml/2006/main">
            <a:pPr>
              <a:defRPr sz="2100">
                <a:solidFill>
                  <a:srgbClr val="15171A"/>
                </a:solidFill>
              </a:defRPr>
            </a:pPr>
            <a:r>
              <a:rPr sz="2100">
                <a:solidFill>
                  <a:srgbClr val="15171A"/>
                </a:solidFill>
              </a:rPr>
              <a:t>+ vector index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C881F-BB36-4AD6-8DF9-D01B3E69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91200"/>
            <a:ext cx="466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6673"/>
                </a:solidFill>
              </a:defRPr>
            </a:pPr>
            <a:r>
              <a:rPr sz="1500">
                <a:solidFill>
                  <a:srgbClr val="5D6673"/>
                </a:solidFill>
              </a:rPr>
              <a:t>Powerful, but stores multiple representations.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198B1-AC71-4F61-B035-A2EE5C64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350" y="3390900"/>
            <a:ext cx="5321300" cy="5695950"/>
          </a:xfrm>
          <a:prstGeom xmlns:a="http://schemas.openxmlformats.org/drawingml/2006/main" prst="roundRect">
            <a:avLst>
              <a:gd name="adj" fmla="val 42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34B17-0E29-4F0F-9D78-00D35DB9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95700"/>
            <a:ext cx="466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9A68"/>
                </a:solidFill>
              </a:defRPr>
            </a:pPr>
            <a:r>
              <a:rPr sz="2400" b="1">
                <a:solidFill>
                  <a:srgbClr val="179A68"/>
                </a:solidFill>
              </a:rPr>
              <a:t>Code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24A51-15E5-4F6B-8461-61CC3BF1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86250"/>
            <a:ext cx="46672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5171A"/>
                </a:solidFill>
              </a:defRPr>
            </a:pPr>
            <a:r>
              <a:rPr sz="2100">
                <a:solidFill>
                  <a:srgbClr val="15171A"/>
                </a:solidFill>
              </a:rPr>
              <a:t>Source files</a:t>
            </a:r>
          </a:p>
          <a:p xmlns:a="http://schemas.openxmlformats.org/drawingml/2006/main">
            <a:pPr>
              <a:defRPr sz="2100">
                <a:solidFill>
                  <a:srgbClr val="15171A"/>
                </a:solidFill>
              </a:defRPr>
            </a:pPr>
            <a:r>
              <a:rPr sz="2100">
                <a:solidFill>
                  <a:srgbClr val="15171A"/>
                </a:solidFill>
              </a:rPr>
              <a:t>+ trigram/symbol index</a:t>
            </a:r>
          </a:p>
          <a:p xmlns:a="http://schemas.openxmlformats.org/drawingml/2006/main">
            <a:pPr>
              <a:defRPr sz="2100">
                <a:solidFill>
                  <a:srgbClr val="15171A"/>
                </a:solidFill>
              </a:defRPr>
            </a:pPr>
            <a:r>
              <a:rPr sz="2100">
                <a:solidFill>
                  <a:srgbClr val="15171A"/>
                </a:solidFill>
              </a:rPr>
              <a:t>+ ranking metadata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190BB-59EC-4C08-9E29-498A855D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486400"/>
            <a:ext cx="466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6673"/>
                </a:solidFill>
              </a:defRPr>
            </a:pPr>
            <a:r>
              <a:rPr sz="1500">
                <a:solidFill>
                  <a:srgbClr val="5D6673"/>
                </a:solidFill>
              </a:rPr>
              <a:t>Excellent search, but the index is separate from storage.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15110-DDFB-438D-9E42-0A5A2E9E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3390900"/>
            <a:ext cx="5321300" cy="5695950"/>
          </a:xfrm>
          <a:prstGeom xmlns:a="http://schemas.openxmlformats.org/drawingml/2006/main" prst="roundRect">
            <a:avLst>
              <a:gd name="adj" fmla="val 4296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B9C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2A604-BA99-409C-A863-34DFC1D9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695700"/>
            <a:ext cx="466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Spectrum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8B995-16B2-4651-8CCF-0324465C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286250"/>
            <a:ext cx="46672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5171A"/>
                </a:solidFill>
              </a:defRPr>
            </a:pPr>
            <a:r>
              <a:rPr sz="2100">
                <a:solidFill>
                  <a:srgbClr val="15171A"/>
                </a:solidFill>
              </a:rPr>
              <a:t>.spec artifact</a:t>
            </a:r>
          </a:p>
          <a:p xmlns:a="http://schemas.openxmlformats.org/drawingml/2006/main">
            <a:pPr>
              <a:defRPr sz="2100">
                <a:solidFill>
                  <a:srgbClr val="15171A"/>
                </a:solidFill>
              </a:defRPr>
            </a:pPr>
            <a:r>
              <a:rPr sz="2100">
                <a:solidFill>
                  <a:srgbClr val="15171A"/>
                </a:solidFill>
              </a:rPr>
              <a:t>+ semantic token IDs</a:t>
            </a:r>
          </a:p>
          <a:p xmlns:a="http://schemas.openxmlformats.org/drawingml/2006/main">
            <a:pPr>
              <a:defRPr sz="2100">
                <a:solidFill>
                  <a:srgbClr val="15171A"/>
                </a:solidFill>
              </a:defRPr>
            </a:pPr>
            <a:r>
              <a:rPr sz="2100">
                <a:solidFill>
                  <a:srgbClr val="15171A"/>
                </a:solidFill>
              </a:rPr>
              <a:t>+ BM25 over token IDs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F7DED-AFFD-4938-A209-73BA35C1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486400"/>
            <a:ext cx="466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The stored form is already the retrieval signal.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FACD7-2253-4FC9-8F79-3FD0A098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91700"/>
            <a:ext cx="16002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47C70"/>
                </a:solidFill>
              </a:defRPr>
            </a:pPr>
            <a:r>
              <a:rPr sz="975">
                <a:solidFill>
                  <a:srgbClr val="847C70"/>
                </a:solidFill>
              </a:rPr>
              <a:t>Focus: retrieval-ready representations. Passive compression is storage tooling, not a search baseline.</a:t>
            </a:r>
          </a:p>
        </p:txBody>
      </p:sp>
    </p:spTree>
    <p:extLst>
      <p:ext uri="{BB962C8B-B14F-4D97-AF65-F5344CB8AC3E}">
        <p14:creationId xmlns:p14="http://schemas.microsoft.com/office/powerpoint/2010/main" val="1577794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B7A363-61C3-469B-A4B5-83AC4D6E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524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STRATEGIC READ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D0BFA-0CD2-4C19-AC07-C57A0CA0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47750"/>
            <a:ext cx="15811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5171A"/>
                </a:solidFill>
              </a:defRPr>
            </a:pPr>
            <a:r>
              <a:rPr sz="3000" b="1">
                <a:solidFill>
                  <a:srgbClr val="15171A"/>
                </a:solidFill>
              </a:rPr>
              <a:t>The product lane is compressed retrieval, not universal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86E48-52EF-4163-9465-B1D2041E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257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D6673"/>
                </a:solidFill>
              </a:defRPr>
            </a:pPr>
            <a:r>
              <a:rPr sz="1725">
                <a:solidFill>
                  <a:srgbClr val="5D6673"/>
                </a:solidFill>
              </a:rPr>
              <a:t>The useful claim is narrower, clearer, and easier to prove.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43915-DCBC-4316-AAE1-325BA727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8039100" cy="55435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28B87-91F7-410B-98F3-E2203A7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7315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9A68"/>
                </a:solidFill>
              </a:defRPr>
            </a:pPr>
            <a:r>
              <a:rPr sz="2475" b="1">
                <a:solidFill>
                  <a:srgbClr val="179A68"/>
                </a:solidFill>
              </a:rPr>
              <a:t>Where Spectrum has a real angle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B41DE-8736-477F-94D1-0A23B8F2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73152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5171A"/>
                </a:solidFill>
              </a:defRPr>
            </a:pPr>
            <a:r>
              <a:rPr sz="2025">
                <a:solidFill>
                  <a:srgbClr val="15171A"/>
                </a:solidFill>
              </a:rPr>
              <a:t>Offline code/document RAG</a:t>
            </a:r>
          </a:p>
          <a:p xmlns:a="http://schemas.openxmlformats.org/drawingml/2006/main">
            <a:pPr>
              <a:defRPr sz="2025">
                <a:solidFill>
                  <a:srgbClr val="15171A"/>
                </a:solidFill>
              </a:defRPr>
            </a:pPr>
            <a:r>
              <a:rPr sz="2025">
                <a:solidFill>
                  <a:srgbClr val="15171A"/>
                </a:solidFill>
              </a:rPr>
              <a:t>Explainable candidate retrieval</a:t>
            </a:r>
          </a:p>
          <a:p xmlns:a="http://schemas.openxmlformats.org/drawingml/2006/main">
            <a:pPr>
              <a:defRPr sz="2025">
                <a:solidFill>
                  <a:srgbClr val="15171A"/>
                </a:solidFill>
              </a:defRPr>
            </a:pPr>
            <a:r>
              <a:rPr sz="2025">
                <a:solidFill>
                  <a:srgbClr val="15171A"/>
                </a:solidFill>
              </a:rPr>
              <a:t>Decode-on-demand source access</a:t>
            </a:r>
          </a:p>
          <a:p xmlns:a="http://schemas.openxmlformats.org/drawingml/2006/main">
            <a:pPr>
              <a:defRPr sz="2025">
                <a:solidFill>
                  <a:srgbClr val="15171A"/>
                </a:solidFill>
              </a:defRPr>
            </a:pPr>
            <a:r>
              <a:rPr sz="2025">
                <a:solidFill>
                  <a:srgbClr val="15171A"/>
                </a:solidFill>
              </a:rPr>
              <a:t>Single artifact carries storage + retrieval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B2866-61E0-4C16-8DBB-D57F0E5A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67100"/>
            <a:ext cx="8039100" cy="55435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D5970-7AF6-484C-9E3E-4E567E6A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90950"/>
            <a:ext cx="7315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C2410C"/>
                </a:solidFill>
              </a:defRPr>
            </a:pPr>
            <a:r>
              <a:rPr sz="2475" b="1">
                <a:solidFill>
                  <a:srgbClr val="C2410C"/>
                </a:solidFill>
              </a:rPr>
              <a:t>Where others remain better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E4842-38D9-487A-A3D6-C69D5030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00550"/>
            <a:ext cx="73152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5171A"/>
                </a:solidFill>
              </a:defRPr>
            </a:pPr>
            <a:r>
              <a:rPr sz="2025">
                <a:solidFill>
                  <a:srgbClr val="15171A"/>
                </a:solidFill>
              </a:rPr>
              <a:t>Zoekt for exact code search</a:t>
            </a:r>
          </a:p>
          <a:p xmlns:a="http://schemas.openxmlformats.org/drawingml/2006/main">
            <a:pPr>
              <a:defRPr sz="2025">
                <a:solidFill>
                  <a:srgbClr val="15171A"/>
                </a:solidFill>
              </a:defRPr>
            </a:pPr>
            <a:r>
              <a:rPr sz="2025">
                <a:solidFill>
                  <a:srgbClr val="15171A"/>
                </a:solidFill>
              </a:rPr>
              <a:t>Tree-sitter for syntax-aware code chunks</a:t>
            </a:r>
          </a:p>
          <a:p xmlns:a="http://schemas.openxmlformats.org/drawingml/2006/main">
            <a:pPr>
              <a:defRPr sz="2025">
                <a:solidFill>
                  <a:srgbClr val="15171A"/>
                </a:solidFill>
              </a:defRPr>
            </a:pPr>
            <a:r>
              <a:rPr sz="2025">
                <a:solidFill>
                  <a:srgbClr val="15171A"/>
                </a:solidFill>
              </a:rPr>
              <a:t>Hybrid retrieval for broad mixed intent</a:t>
            </a:r>
          </a:p>
          <a:p xmlns:a="http://schemas.openxmlformats.org/drawingml/2006/main">
            <a:pPr>
              <a:defRPr sz="2025">
                <a:solidFill>
                  <a:srgbClr val="15171A"/>
                </a:solidFill>
              </a:defRPr>
            </a:pPr>
            <a:r>
              <a:rPr sz="2025">
                <a:solidFill>
                  <a:srgbClr val="15171A"/>
                </a:solidFill>
              </a:rPr>
              <a:t>Neural embeddings for conceptual 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E1618-4DB1-4ABF-A66A-57789B1B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91700"/>
            <a:ext cx="16002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47C70"/>
                </a:solidFill>
              </a:defRPr>
            </a:pPr>
            <a:r>
              <a:rPr sz="975">
                <a:solidFill>
                  <a:srgbClr val="847C70"/>
                </a:solidFill>
              </a:rPr>
              <a:t>Local benchmark: 14 files, 8 labelled queries. Dense result is an LSA proxy, not neural embeddings.</a:t>
            </a:r>
          </a:p>
        </p:txBody>
      </p:sp>
    </p:spTree>
    <p:extLst>
      <p:ext uri="{BB962C8B-B14F-4D97-AF65-F5344CB8AC3E}">
        <p14:creationId xmlns:p14="http://schemas.microsoft.com/office/powerpoint/2010/main" val="5166488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7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70D57C-9F6A-4259-8B98-943A1016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870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EC0FF"/>
                </a:solidFill>
              </a:defRPr>
            </a:pPr>
            <a:r>
              <a:rPr sz="1650" b="1">
                <a:solidFill>
                  <a:srgbClr val="9EC0FF"/>
                </a:solidFill>
              </a:rPr>
              <a:t>Next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6950C-FB4E-4DA6-98D3-D259B6A6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72009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Prove the lane against the real systems.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2D6A2-7EA2-4AFD-A3AA-3C76185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72771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CED7E6"/>
                </a:solidFill>
              </a:defRPr>
            </a:pPr>
            <a:r>
              <a:rPr sz="2025">
                <a:solidFill>
                  <a:srgbClr val="CED7E6"/>
                </a:solidFill>
              </a:rPr>
              <a:t>The current result is promising, but it is small. The next step is a larger benchmark with real Lucene, Zoekt, Tree-sitter chunking, and a real embedding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35B72-67D6-4B88-8EC5-B0D7D265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903" y="3497580"/>
            <a:ext cx="7123748" cy="982980"/>
          </a:xfrm>
          <a:prstGeom xmlns:a="http://schemas.openxmlformats.org/drawingml/2006/main" prst="roundRect">
            <a:avLst>
              <a:gd name="adj" fmla="val 15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F6951-1DD9-4F7A-ACD9-D559EE7B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7719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6DDF6-06B1-4667-AC80-5624A49B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714750"/>
            <a:ext cx="638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71A"/>
                </a:solidFill>
              </a:defRPr>
            </a:pPr>
            <a:r>
              <a:rPr sz="1800" b="1">
                <a:solidFill>
                  <a:srgbClr val="15171A"/>
                </a:solidFill>
              </a:rPr>
              <a:t>1. Build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A626C-3855-432B-B9FC-E0D678C0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076700"/>
            <a:ext cx="6629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673"/>
                </a:solidFill>
              </a:defRPr>
            </a:pPr>
            <a:r>
              <a:rPr sz="1275">
                <a:solidFill>
                  <a:srgbClr val="5D6673"/>
                </a:solidFill>
              </a:rPr>
              <a:t>Use 10-50 repositories plus docs. Label query-to-file relevance instead of relying on self-retrieval.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14740-F70B-4D08-9950-B26FF4C9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903" y="4652010"/>
            <a:ext cx="7123748" cy="982980"/>
          </a:xfrm>
          <a:prstGeom xmlns:a="http://schemas.openxmlformats.org/drawingml/2006/main" prst="roundRect">
            <a:avLst>
              <a:gd name="adj" fmla="val 15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65FD7-55BD-4E93-8B19-127BE076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933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9A6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CC89A-4797-4A7F-93A4-D15FAAEC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57750"/>
            <a:ext cx="638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71A"/>
                </a:solidFill>
              </a:defRPr>
            </a:pPr>
            <a:r>
              <a:rPr sz="1800" b="1">
                <a:solidFill>
                  <a:srgbClr val="15171A"/>
                </a:solidFill>
              </a:rPr>
              <a:t>2. Run true baselines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8B34A-5AE1-47A2-8CB3-1198425C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238750"/>
            <a:ext cx="6629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673"/>
                </a:solidFill>
              </a:defRPr>
            </a:pPr>
            <a:r>
              <a:rPr sz="1275">
                <a:solidFill>
                  <a:srgbClr val="5D6673"/>
                </a:solidFill>
              </a:rPr>
              <a:t>Lucene/OpenSearch BM25, Zoekt, Tree-sitter chunks, neural embeddings, and hybrid fusion.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5329C-28FE-4949-8242-548A604D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903" y="5806440"/>
            <a:ext cx="7123748" cy="982980"/>
          </a:xfrm>
          <a:prstGeom xmlns:a="http://schemas.openxmlformats.org/drawingml/2006/main" prst="roundRect">
            <a:avLst>
              <a:gd name="adj" fmla="val 15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32136-EB9F-4274-AA5D-5B519066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0960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8A00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8599C-1FB1-41CF-B710-4B63ABB4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19800"/>
            <a:ext cx="638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71A"/>
                </a:solidFill>
              </a:defRPr>
            </a:pPr>
            <a:r>
              <a:rPr sz="1800" b="1">
                <a:solidFill>
                  <a:srgbClr val="15171A"/>
                </a:solidFill>
              </a:rPr>
              <a:t>3. Measure end-to-end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BEB1E-D9B8-43A9-9553-60719E16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381750"/>
            <a:ext cx="6629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673"/>
                </a:solidFill>
              </a:defRPr>
            </a:pPr>
            <a:r>
              <a:rPr sz="1275">
                <a:solidFill>
                  <a:srgbClr val="5D6673"/>
                </a:solidFill>
              </a:rPr>
              <a:t>Index size, source/chunk/vector storage, query latency, Recall@k, MRR, and decode time.</a:t>
            </a:r>
          </a:p>
        </p:txBody>
      </p:sp>
    </p:spTree>
    <p:extLst>
      <p:ext uri="{BB962C8B-B14F-4D97-AF65-F5344CB8AC3E}">
        <p14:creationId xmlns:p14="http://schemas.microsoft.com/office/powerpoint/2010/main" val="1303572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2026-04-29T12:47:03.9560000Z</dcterms:created>
  <dcterms:modified xsi:type="dcterms:W3CDTF">2026-04-29T12:47:03.9560000Z</dcterms:modified>
</coreProperties>
</file>